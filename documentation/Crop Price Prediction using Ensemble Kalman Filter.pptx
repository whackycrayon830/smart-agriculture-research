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0699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09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91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5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00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3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38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0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97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6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254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5D289D1-69AA-40CB-A47F-0A80027B11B0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E67D787-A87E-44F7-A670-759DFB08F56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2605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0A3E-0BF2-2F7B-3E43-57D8B69384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Crop Price Prediction using Ensemble Kalman Filter (</a:t>
            </a:r>
            <a:r>
              <a:rPr lang="en-US" dirty="0" err="1"/>
              <a:t>EnKF</a:t>
            </a:r>
            <a:r>
              <a:rPr lang="en-US" dirty="0"/>
              <a:t>) and ERA5 Weather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4424F-68F4-596B-DCB9-52C5130D94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Data Assimilation–Driven Approach for Agricultural Forecasting</a:t>
            </a:r>
          </a:p>
        </p:txBody>
      </p:sp>
    </p:spTree>
    <p:extLst>
      <p:ext uri="{BB962C8B-B14F-4D97-AF65-F5344CB8AC3E}">
        <p14:creationId xmlns:p14="http://schemas.microsoft.com/office/powerpoint/2010/main" val="355582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10147-F7E9-C8C4-3233-0C5D2206A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Crop Price Prediction Matters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FB6A-83DE-8226-D6E0-FDE330A1B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Agricultural prices directly impact:</a:t>
            </a:r>
          </a:p>
          <a:p>
            <a:pPr lvl="1"/>
            <a:r>
              <a:rPr lang="en-US" dirty="0"/>
              <a:t>Farmer income stability</a:t>
            </a:r>
          </a:p>
          <a:p>
            <a:pPr lvl="1"/>
            <a:r>
              <a:rPr lang="en-US" dirty="0"/>
              <a:t>Food supply chains</a:t>
            </a:r>
          </a:p>
          <a:p>
            <a:pPr lvl="1"/>
            <a:r>
              <a:rPr lang="en-US" dirty="0"/>
              <a:t>Government procurement &amp; MSP policies</a:t>
            </a:r>
          </a:p>
          <a:p>
            <a:r>
              <a:rPr lang="en-US" dirty="0"/>
              <a:t>Prices are </a:t>
            </a:r>
            <a:r>
              <a:rPr lang="en-US" b="1" dirty="0"/>
              <a:t>highly volatile</a:t>
            </a:r>
            <a:r>
              <a:rPr lang="en-US" dirty="0"/>
              <a:t> due to:</a:t>
            </a:r>
          </a:p>
          <a:p>
            <a:pPr lvl="1"/>
            <a:r>
              <a:rPr lang="en-US" dirty="0"/>
              <a:t>Weather uncertainty</a:t>
            </a:r>
          </a:p>
          <a:p>
            <a:pPr lvl="1"/>
            <a:r>
              <a:rPr lang="en-US" dirty="0"/>
              <a:t>Spatial market heterogeneity (mandis)</a:t>
            </a:r>
          </a:p>
          <a:p>
            <a:pPr lvl="1"/>
            <a:r>
              <a:rPr lang="en-US" dirty="0"/>
              <a:t>Missing and noisy data</a:t>
            </a:r>
          </a:p>
          <a:p>
            <a:endParaRPr lang="en-US" dirty="0"/>
          </a:p>
        </p:txBody>
      </p:sp>
      <p:pic>
        <p:nvPicPr>
          <p:cNvPr id="1028" name="Picture 4" descr="Mapping Mandis: A Spatial Exploration of Agricultural Markets in India - TCI">
            <a:extLst>
              <a:ext uri="{FF2B5EF4-FFF2-40B4-BE49-F238E27FC236}">
                <a16:creationId xmlns:a16="http://schemas.microsoft.com/office/drawing/2014/main" id="{7885D6BD-D346-8966-D985-B22383B5A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4163" y="2386584"/>
            <a:ext cx="6283859" cy="4441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91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EA34-EAB0-BE1E-D0C2-1E45724B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272" y="228600"/>
            <a:ext cx="9720072" cy="1499616"/>
          </a:xfrm>
        </p:spPr>
        <p:txBody>
          <a:bodyPr/>
          <a:lstStyle/>
          <a:p>
            <a:r>
              <a:rPr lang="en-US" dirty="0"/>
              <a:t>Limitations of Existing Approaches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72B81A-D5AC-4050-46DD-13E29C269C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177" y="1909402"/>
            <a:ext cx="391518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Time-series models (ARIMA, LSTM):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Poor uncertainty handling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Require long, clean histories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Pure ML models: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No physical interpretation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	Overfit &amp; collapse under regime change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</a:rPr>
              <a:t>Most work ignores data assimilation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AB2F4-8C1A-DDE7-2718-B31FC258EE72}"/>
              </a:ext>
            </a:extLst>
          </p:cNvPr>
          <p:cNvSpPr txBox="1"/>
          <p:nvPr/>
        </p:nvSpPr>
        <p:spPr>
          <a:xfrm>
            <a:off x="4359398" y="1909402"/>
            <a:ext cx="347320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Poor Handling of Missing and Irregular Data: </a:t>
            </a:r>
          </a:p>
          <a:p>
            <a:endParaRPr lang="en-US" b="1" dirty="0"/>
          </a:p>
          <a:p>
            <a:r>
              <a:rPr lang="en-US" b="1" dirty="0"/>
              <a:t>Real market data: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Missing days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Irregular Reporting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Sudden discontinuities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Heavy interpolation leads to bias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altLang="en-US" b="1" dirty="0">
                <a:solidFill>
                  <a:schemeClr val="accent2">
                    <a:lumMod val="75000"/>
                  </a:schemeClr>
                </a:solidFill>
              </a:rPr>
              <a:t>Most models perform poorly due to lack of good quality data</a:t>
            </a:r>
            <a:endParaRPr lang="en-US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32388-11BB-9292-E0D3-5C6E3896CCEF}"/>
              </a:ext>
            </a:extLst>
          </p:cNvPr>
          <p:cNvSpPr txBox="1"/>
          <p:nvPr/>
        </p:nvSpPr>
        <p:spPr>
          <a:xfrm>
            <a:off x="8036640" y="1909402"/>
            <a:ext cx="39151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Mean Collapse in Sequential Models:</a:t>
            </a:r>
          </a:p>
          <a:p>
            <a:endParaRPr lang="en-US" b="1" dirty="0"/>
          </a:p>
          <a:p>
            <a:r>
              <a:rPr lang="en-US" b="1" dirty="0"/>
              <a:t>Sequential Filters (Kalman):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Collapse to the mean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Lose responsiveness over 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Market dynamics (policy, weather, supply) are abrupt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Over-smoothing destroys signal</a:t>
            </a:r>
          </a:p>
        </p:txBody>
      </p:sp>
    </p:spTree>
    <p:extLst>
      <p:ext uri="{BB962C8B-B14F-4D97-AF65-F5344CB8AC3E}">
        <p14:creationId xmlns:p14="http://schemas.microsoft.com/office/powerpoint/2010/main" val="213541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BAA88-4DDC-CB1A-0EDC-726926CA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Inspiration (Literature)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067A9-43AD-9198-D177-299F38A7C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5" y="2313432"/>
            <a:ext cx="6227064" cy="40233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Recent work (Remote Sensing of Environment, 2026) shows:</a:t>
            </a:r>
          </a:p>
          <a:p>
            <a:r>
              <a:rPr lang="en-US" b="1" dirty="0"/>
              <a:t>Ensemble Kalman Filter (</a:t>
            </a:r>
            <a:r>
              <a:rPr lang="en-US" b="1" dirty="0" err="1"/>
              <a:t>EnKF</a:t>
            </a:r>
            <a:r>
              <a:rPr lang="en-US" b="1" dirty="0"/>
              <a:t>)</a:t>
            </a:r>
            <a:r>
              <a:rPr lang="en-US" dirty="0"/>
              <a:t> successfully integrates:</a:t>
            </a:r>
          </a:p>
          <a:p>
            <a:pPr lvl="1"/>
            <a:r>
              <a:rPr lang="en-US" dirty="0"/>
              <a:t>Process-based models</a:t>
            </a:r>
          </a:p>
          <a:p>
            <a:pPr lvl="1"/>
            <a:r>
              <a:rPr lang="en-US" dirty="0"/>
              <a:t>Machine learning predictions</a:t>
            </a:r>
          </a:p>
          <a:p>
            <a:pPr lvl="1"/>
            <a:r>
              <a:rPr lang="en-US" dirty="0"/>
              <a:t>ERA5 weather</a:t>
            </a:r>
          </a:p>
          <a:p>
            <a:r>
              <a:rPr lang="en-US" dirty="0"/>
              <a:t>Achieves </a:t>
            </a:r>
            <a:r>
              <a:rPr lang="en-US" b="1" dirty="0"/>
              <a:t>robust, uncertainty-aware forecasts</a:t>
            </a:r>
            <a:endParaRPr lang="en-US" dirty="0"/>
          </a:p>
          <a:p>
            <a:r>
              <a:rPr lang="en-US" dirty="0"/>
              <a:t>Applied to </a:t>
            </a:r>
            <a:r>
              <a:rPr lang="en-US" b="1" dirty="0"/>
              <a:t>soil moisture &amp; crop systems</a:t>
            </a:r>
            <a:endParaRPr lang="en-US" dirty="0"/>
          </a:p>
          <a:p>
            <a:r>
              <a:rPr lang="en-US" dirty="0"/>
              <a:t>Positive results have also been achieved with CGNN per feature in some papers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6B746-8C25-5F71-26ED-606347061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8896" y="1982410"/>
            <a:ext cx="5023104" cy="322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245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26556-3281-FC6A-24C5-D29E859A8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292E8-2FE7-94D4-42AC-01D523BDF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Agricultural Market Data (AGMARKNET)</a:t>
            </a:r>
          </a:p>
          <a:p>
            <a:r>
              <a:rPr lang="en-US" dirty="0"/>
              <a:t>Daily mandi-level prices</a:t>
            </a:r>
          </a:p>
          <a:p>
            <a:r>
              <a:rPr lang="en-US" dirty="0"/>
              <a:t>Commodity-wise filtering</a:t>
            </a:r>
          </a:p>
          <a:p>
            <a:r>
              <a:rPr lang="en-US" dirty="0"/>
              <a:t>Interpolation for short gaps</a:t>
            </a:r>
          </a:p>
          <a:p>
            <a:r>
              <a:rPr lang="en-US" b="1" dirty="0"/>
              <a:t>2. Weather Data (ERA5)</a:t>
            </a:r>
          </a:p>
          <a:p>
            <a:r>
              <a:rPr lang="en-US" dirty="0"/>
              <a:t>Temperature (t2m)</a:t>
            </a:r>
          </a:p>
          <a:p>
            <a:r>
              <a:rPr lang="en-US" dirty="0"/>
              <a:t>Rainfall (</a:t>
            </a:r>
            <a:r>
              <a:rPr lang="en-US" dirty="0" err="1"/>
              <a:t>tp</a:t>
            </a:r>
            <a:r>
              <a:rPr lang="en-US" dirty="0"/>
              <a:t>)</a:t>
            </a:r>
          </a:p>
          <a:p>
            <a:r>
              <a:rPr lang="en-US" dirty="0"/>
              <a:t>Solar radiation (</a:t>
            </a:r>
            <a:r>
              <a:rPr lang="en-US" dirty="0" err="1"/>
              <a:t>ssr</a:t>
            </a:r>
            <a:r>
              <a:rPr lang="en-US" dirty="0"/>
              <a:t>)</a:t>
            </a:r>
          </a:p>
          <a:p>
            <a:r>
              <a:rPr lang="en-US" dirty="0"/>
              <a:t>Daily aggregation &amp;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762233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1A01D-4384-33CE-A3D6-EA796B00B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3F25-12E0-B40C-103F-B87C90F61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ERA5 Weather ───▶ System Dynamics</a:t>
            </a:r>
          </a:p>
          <a:p>
            <a:r>
              <a:rPr lang="en-US" dirty="0"/>
              <a:t>                      │</a:t>
            </a:r>
          </a:p>
          <a:p>
            <a:r>
              <a:rPr lang="en-US" dirty="0"/>
              <a:t>Past Prices ───▶ </a:t>
            </a:r>
            <a:r>
              <a:rPr lang="en-US" dirty="0" err="1"/>
              <a:t>EnKF</a:t>
            </a:r>
            <a:r>
              <a:rPr lang="en-US" dirty="0"/>
              <a:t> Forecast Step</a:t>
            </a:r>
          </a:p>
          <a:p>
            <a:r>
              <a:rPr lang="en-US" dirty="0"/>
              <a:t>                      │</a:t>
            </a:r>
          </a:p>
          <a:p>
            <a:r>
              <a:rPr lang="en-US" dirty="0"/>
              <a:t>Observed Prices ─▶ </a:t>
            </a:r>
            <a:r>
              <a:rPr lang="en-US" dirty="0" err="1"/>
              <a:t>EnKF</a:t>
            </a:r>
            <a:r>
              <a:rPr lang="en-US" dirty="0"/>
              <a:t> Update Step</a:t>
            </a:r>
          </a:p>
          <a:p>
            <a:r>
              <a:rPr lang="en-US" dirty="0"/>
              <a:t>                      │</a:t>
            </a:r>
          </a:p>
          <a:p>
            <a:r>
              <a:rPr lang="en-US" dirty="0"/>
              <a:t>               Smoothed Price Forecast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65155-77AD-A484-ACEE-233266FFD4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1385" y="548640"/>
            <a:ext cx="5089290" cy="562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4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AAD04-07D7-6813-384E-9B2C35AD5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Till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662F4-4D4D-C5C1-2FDE-EE16B5103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Performance:</a:t>
            </a:r>
          </a:p>
          <a:p>
            <a:r>
              <a:rPr lang="en-US" dirty="0"/>
              <a:t>Multi-mandi price forecasting</a:t>
            </a:r>
          </a:p>
          <a:p>
            <a:r>
              <a:rPr lang="en-US" dirty="0"/>
              <a:t>Stable dynamics across time</a:t>
            </a:r>
          </a:p>
          <a:p>
            <a:r>
              <a:rPr lang="en-US" dirty="0"/>
              <a:t>RMSE computed on denormalized prices</a:t>
            </a:r>
          </a:p>
          <a:p>
            <a:endParaRPr lang="en-US" dirty="0"/>
          </a:p>
          <a:p>
            <a:r>
              <a:rPr lang="en-US" b="1" dirty="0"/>
              <a:t>However:</a:t>
            </a:r>
          </a:p>
          <a:p>
            <a:r>
              <a:rPr lang="en-US" dirty="0" err="1"/>
              <a:t>EnKF</a:t>
            </a:r>
            <a:r>
              <a:rPr lang="en-US" dirty="0"/>
              <a:t> overcompensates and smooths the price prediction.</a:t>
            </a:r>
          </a:p>
        </p:txBody>
      </p:sp>
    </p:spTree>
    <p:extLst>
      <p:ext uri="{BB962C8B-B14F-4D97-AF65-F5344CB8AC3E}">
        <p14:creationId xmlns:p14="http://schemas.microsoft.com/office/powerpoint/2010/main" val="2796120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A5C4-1D6D-E3F0-8300-61DAF973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BA3B0-5C54-9604-21BC-B6390A30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39" y="2249424"/>
            <a:ext cx="9720073" cy="4023360"/>
          </a:xfrm>
        </p:spPr>
        <p:txBody>
          <a:bodyPr/>
          <a:lstStyle/>
          <a:p>
            <a:r>
              <a:rPr lang="en-US" dirty="0"/>
              <a:t>Decision Optimization on Top of Forecasts:</a:t>
            </a:r>
          </a:p>
          <a:p>
            <a:endParaRPr lang="en-US" dirty="0"/>
          </a:p>
          <a:p>
            <a:pPr marL="128016" lvl="1" indent="0">
              <a:buNone/>
            </a:pPr>
            <a:r>
              <a:rPr lang="en-US" dirty="0"/>
              <a:t>Use </a:t>
            </a:r>
            <a:r>
              <a:rPr lang="en-US" dirty="0" err="1"/>
              <a:t>EnKF</a:t>
            </a:r>
            <a:r>
              <a:rPr lang="en-US" dirty="0"/>
              <a:t>-based price forecasts as </a:t>
            </a:r>
            <a:r>
              <a:rPr lang="en-US" b="1" dirty="0"/>
              <a:t>inputs to a decision-making layer</a:t>
            </a:r>
            <a:r>
              <a:rPr lang="en-US" dirty="0"/>
              <a:t> rather than as final outputs.</a:t>
            </a:r>
          </a:p>
          <a:p>
            <a:pPr marL="128016" lvl="1" indent="0">
              <a:buNone/>
            </a:pPr>
            <a:r>
              <a:rPr lang="en-US" dirty="0"/>
              <a:t>Model </a:t>
            </a:r>
            <a:r>
              <a:rPr lang="en-US" b="1" dirty="0"/>
              <a:t>mandis as economic nodes</a:t>
            </a:r>
            <a:r>
              <a:rPr lang="en-US" dirty="0"/>
              <a:t> connected by transportation cost and logistics constraints.</a:t>
            </a:r>
          </a:p>
          <a:p>
            <a:pPr marL="128016" lvl="1" indent="0">
              <a:buNone/>
            </a:pPr>
            <a:r>
              <a:rPr lang="en-US" dirty="0"/>
              <a:t>Formulate crop selling as an optimization problem that solves:</a:t>
            </a:r>
          </a:p>
          <a:p>
            <a:pPr lvl="2"/>
            <a:r>
              <a:rPr lang="en-US" dirty="0"/>
              <a:t>Which crop to sell</a:t>
            </a:r>
          </a:p>
          <a:p>
            <a:pPr lvl="2"/>
            <a:r>
              <a:rPr lang="en-US" dirty="0"/>
              <a:t>At which mandi</a:t>
            </a:r>
          </a:p>
          <a:p>
            <a:pPr lvl="2"/>
            <a:r>
              <a:rPr lang="en-US" dirty="0"/>
              <a:t>At what time</a:t>
            </a:r>
          </a:p>
          <a:p>
            <a:pPr lvl="2"/>
            <a:r>
              <a:rPr lang="en-US" dirty="0"/>
              <a:t>In what quantity</a:t>
            </a:r>
          </a:p>
          <a:p>
            <a:r>
              <a:rPr lang="en-US" sz="1800" dirty="0"/>
              <a:t>Incorporate </a:t>
            </a:r>
            <a:r>
              <a:rPr lang="en-US" sz="1800" b="1" dirty="0"/>
              <a:t>transport costs, storage limits, spoilage, and market arrival constraints</a:t>
            </a:r>
            <a:r>
              <a:rPr lang="en-US" sz="1800" dirty="0"/>
              <a:t> into the objective function.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5F5BF1-F529-DC08-7E82-E0BD5E2544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" t="1919"/>
          <a:stretch>
            <a:fillRect/>
          </a:stretch>
        </p:blipFill>
        <p:spPr>
          <a:xfrm>
            <a:off x="9829800" y="82296"/>
            <a:ext cx="2362200" cy="255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53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E5B1-526E-4EB1-5C2C-B9A43629B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401053"/>
            <a:ext cx="9720072" cy="1499616"/>
          </a:xfrm>
        </p:spPr>
        <p:txBody>
          <a:bodyPr/>
          <a:lstStyle/>
          <a:p>
            <a:r>
              <a:rPr lang="en-US" u="sng" dirty="0"/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3B78D7-DB11-65F2-F89C-5AA362C9A9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7799" y="1467532"/>
            <a:ext cx="900218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Industrial machinery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Estimating hidden component health from noisy vibration and temperature signals under varying operational loads.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maintenance systems: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Tracking gradual degradation of machine parts while assimilating irregular sensor readings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Structural health monitoring: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Inferring stress and fatigue evolution in bridges, aircraft, or turbines driven by environmental and usage variations.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grid stability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Modeling substations as interacting nodes affected by demand fluctuations and external disturbances.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Transportation networks: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Tracking traffic node congestion under weather, demand surges, and inter-node propagation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 networks: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Fusing incomplete and noisy measurements from distributed nodes exposed to environmental drift.</a:t>
            </a:r>
          </a:p>
        </p:txBody>
      </p:sp>
    </p:spTree>
    <p:extLst>
      <p:ext uri="{BB962C8B-B14F-4D97-AF65-F5344CB8AC3E}">
        <p14:creationId xmlns:p14="http://schemas.microsoft.com/office/powerpoint/2010/main" val="16060711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80</TotalTime>
  <Words>523</Words>
  <Application>Microsoft Office PowerPoint</Application>
  <PresentationFormat>Widescreen</PresentationFormat>
  <Paragraphs>95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Tw Cen MT</vt:lpstr>
      <vt:lpstr>Tw Cen MT Condensed</vt:lpstr>
      <vt:lpstr>Wingdings</vt:lpstr>
      <vt:lpstr>Wingdings 3</vt:lpstr>
      <vt:lpstr>Integral</vt:lpstr>
      <vt:lpstr>Crop Price Prediction using Ensemble Kalman Filter (EnKF) and ERA5 Weather Data</vt:lpstr>
      <vt:lpstr>Why Crop Price Prediction Matters </vt:lpstr>
      <vt:lpstr>Limitations of Existing Approaches</vt:lpstr>
      <vt:lpstr>Research Inspiration (Literature)</vt:lpstr>
      <vt:lpstr>Data Sources</vt:lpstr>
      <vt:lpstr>Proposed System</vt:lpstr>
      <vt:lpstr>Results Till now</vt:lpstr>
      <vt:lpstr>Further research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Nishchey Singh</dc:creator>
  <cp:lastModifiedBy>Nishchey Singh</cp:lastModifiedBy>
  <cp:revision>3</cp:revision>
  <dcterms:created xsi:type="dcterms:W3CDTF">2026-01-15T11:57:55Z</dcterms:created>
  <dcterms:modified xsi:type="dcterms:W3CDTF">2026-01-15T13:19:27Z</dcterms:modified>
</cp:coreProperties>
</file>